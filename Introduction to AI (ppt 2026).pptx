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Barlow" pitchFamily="2" charset="77"/>
      <p:regular r:id="rId13"/>
      <p:bold r:id="rId14"/>
      <p:italic r:id="rId15"/>
      <p:boldItalic r:id="rId16"/>
    </p:embeddedFont>
    <p:embeddedFont>
      <p:font typeface="Barlow Bold" pitchFamily="2" charset="77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07" autoAdjust="0"/>
  </p:normalViewPr>
  <p:slideViewPr>
    <p:cSldViewPr>
      <p:cViewPr varScale="1">
        <p:scale>
          <a:sx n="70" d="100"/>
          <a:sy n="70" d="100"/>
        </p:scale>
        <p:origin x="840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3911536"/>
            <a:ext cx="15430500" cy="2559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9"/>
              </a:lnSpc>
            </a:pPr>
            <a:r>
              <a:rPr lang="en-US" sz="9175" b="1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Handling uncertainty with fuzzy systems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08613" y="9191625"/>
            <a:ext cx="11870774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spc="14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Lkhagva-Ochir, 202339663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646496"/>
            <a:ext cx="15430500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7200" b="1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Contents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08613" y="1927152"/>
            <a:ext cx="11870774" cy="754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3999" spc="15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•Introduction </a:t>
            </a:r>
          </a:p>
          <a:p>
            <a:pPr algn="l">
              <a:lnSpc>
                <a:spcPts val="7559"/>
              </a:lnSpc>
            </a:pPr>
            <a:r>
              <a:rPr lang="en-US" sz="3999" spc="15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•Classical sets</a:t>
            </a:r>
          </a:p>
          <a:p>
            <a:pPr algn="l">
              <a:lnSpc>
                <a:spcPts val="7559"/>
              </a:lnSpc>
            </a:pPr>
            <a:r>
              <a:rPr lang="en-US" sz="3999" spc="15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•Fuzzy sets</a:t>
            </a:r>
          </a:p>
          <a:p>
            <a:pPr algn="l">
              <a:lnSpc>
                <a:spcPts val="7559"/>
              </a:lnSpc>
            </a:pPr>
            <a:r>
              <a:rPr lang="en-US" sz="3999" spc="15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•Fuzzy logic</a:t>
            </a:r>
          </a:p>
          <a:p>
            <a:pPr algn="l">
              <a:lnSpc>
                <a:spcPts val="7559"/>
              </a:lnSpc>
            </a:pPr>
            <a:r>
              <a:rPr lang="en-US" sz="3999" spc="15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•Membership function</a:t>
            </a:r>
          </a:p>
          <a:p>
            <a:pPr algn="l">
              <a:lnSpc>
                <a:spcPts val="7559"/>
              </a:lnSpc>
            </a:pPr>
            <a:r>
              <a:rPr lang="en-US" sz="3999" spc="15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•Real-life applications</a:t>
            </a:r>
          </a:p>
          <a:p>
            <a:pPr algn="l">
              <a:lnSpc>
                <a:spcPts val="7559"/>
              </a:lnSpc>
            </a:pPr>
            <a:r>
              <a:rPr lang="en-US" sz="3999" spc="15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•Conclusion</a:t>
            </a:r>
          </a:p>
          <a:p>
            <a:pPr algn="l">
              <a:lnSpc>
                <a:spcPts val="7559"/>
              </a:lnSpc>
            </a:pPr>
            <a:endParaRPr lang="en-US" sz="3999" spc="15">
              <a:solidFill>
                <a:srgbClr val="365B6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1095056"/>
            <a:ext cx="15430500" cy="136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59"/>
              </a:lnSpc>
              <a:spcBef>
                <a:spcPct val="0"/>
              </a:spcBef>
            </a:pPr>
            <a:r>
              <a:rPr lang="en-US" sz="7899" b="1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What is a fuzzy system?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53376" y="3415911"/>
            <a:ext cx="14181247" cy="1960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79"/>
              </a:lnSpc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Fuzzy systems allow us to handle uncertainty and make decisions more like humans do.</a:t>
            </a:r>
          </a:p>
          <a:p>
            <a:pPr marL="0" lvl="0" indent="0" algn="l">
              <a:lnSpc>
                <a:spcPts val="5279"/>
              </a:lnSpc>
            </a:pPr>
            <a:endParaRPr lang="en-US" sz="3199" spc="12">
              <a:solidFill>
                <a:srgbClr val="365B6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053376" y="5505341"/>
            <a:ext cx="14181247" cy="129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5279"/>
              </a:lnSpc>
              <a:buFont typeface="Arial"/>
              <a:buChar char="•"/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“Is it hot today?” - The answer is not “Yes or No”</a:t>
            </a:r>
          </a:p>
          <a:p>
            <a:pPr marL="690879" lvl="1" indent="-345439" algn="l">
              <a:lnSpc>
                <a:spcPts val="5279"/>
              </a:lnSpc>
              <a:buFont typeface="Arial"/>
              <a:buChar char="•"/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 Vague groups of things such as “short men”, “warm days”, etc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1176054"/>
            <a:ext cx="15430500" cy="136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59"/>
              </a:lnSpc>
              <a:spcBef>
                <a:spcPct val="0"/>
              </a:spcBef>
            </a:pPr>
            <a:r>
              <a:rPr lang="en-US" sz="7899" b="1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Classical sets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53376" y="3509943"/>
            <a:ext cx="14181247" cy="262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A classical set is a container that includes or excludes any given element. Any element X must be either in set A or in set not-A. It cannot be in both. And these two sets, set A and set not-A, should contain the entire universe between them.</a:t>
            </a:r>
          </a:p>
          <a:p>
            <a:pPr marL="0" lvl="0" indent="0" algn="l">
              <a:lnSpc>
                <a:spcPts val="5279"/>
              </a:lnSpc>
            </a:pPr>
            <a:endParaRPr lang="en-US" sz="3199" spc="12">
              <a:solidFill>
                <a:srgbClr val="365B6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1806" y="3170761"/>
            <a:ext cx="6824388" cy="3945478"/>
            <a:chOff x="0" y="0"/>
            <a:chExt cx="786820" cy="454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6820" cy="454881"/>
            </a:xfrm>
            <a:custGeom>
              <a:avLst/>
              <a:gdLst/>
              <a:ahLst/>
              <a:cxnLst/>
              <a:rect l="l" t="t" r="r" b="b"/>
              <a:pathLst>
                <a:path w="786820" h="454881">
                  <a:moveTo>
                    <a:pt x="786820" y="57857"/>
                  </a:moveTo>
                  <a:lnTo>
                    <a:pt x="786820" y="397024"/>
                  </a:lnTo>
                  <a:cubicBezTo>
                    <a:pt x="786820" y="428978"/>
                    <a:pt x="760917" y="454881"/>
                    <a:pt x="728963" y="454881"/>
                  </a:cubicBezTo>
                  <a:lnTo>
                    <a:pt x="57857" y="454881"/>
                  </a:lnTo>
                  <a:cubicBezTo>
                    <a:pt x="25903" y="454881"/>
                    <a:pt x="0" y="428978"/>
                    <a:pt x="0" y="397024"/>
                  </a:cubicBezTo>
                  <a:lnTo>
                    <a:pt x="0" y="57857"/>
                  </a:lnTo>
                  <a:cubicBezTo>
                    <a:pt x="0" y="25903"/>
                    <a:pt x="25903" y="0"/>
                    <a:pt x="57857" y="0"/>
                  </a:cubicBezTo>
                  <a:lnTo>
                    <a:pt x="728963" y="0"/>
                  </a:lnTo>
                  <a:cubicBezTo>
                    <a:pt x="760917" y="0"/>
                    <a:pt x="786820" y="25903"/>
                    <a:pt x="786820" y="57857"/>
                  </a:cubicBezTo>
                  <a:close/>
                </a:path>
              </a:pathLst>
            </a:custGeom>
            <a:solidFill>
              <a:srgbClr val="365B6D"/>
            </a:solidFill>
          </p:spPr>
          <p:txBody>
            <a:bodyPr/>
            <a:lstStyle/>
            <a:p>
              <a:endParaRPr lang="en-M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786820" cy="521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Monday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139829" y="3799566"/>
            <a:ext cx="1468710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sz="3199" spc="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Tuesday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21311" y="4041501"/>
            <a:ext cx="1096045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sz="3199" spc="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Friday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30005" y="5699007"/>
            <a:ext cx="2031132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sz="3199" spc="1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Wednesday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41778" y="2327068"/>
            <a:ext cx="3179533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Animals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42429" y="2810939"/>
            <a:ext cx="3179533" cy="129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5279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2399850" y="7405910"/>
            <a:ext cx="3179533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Dog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97858" y="1843198"/>
            <a:ext cx="3179533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Pen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97858" y="8194650"/>
            <a:ext cx="3179533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Bag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743508"/>
            <a:ext cx="15430500" cy="136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59"/>
              </a:lnSpc>
              <a:spcBef>
                <a:spcPct val="0"/>
              </a:spcBef>
            </a:pPr>
            <a:r>
              <a:rPr lang="en-US" sz="7899" b="1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Fuzzy sets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53376" y="2557929"/>
            <a:ext cx="14181247" cy="1960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A fuzzy set allows elements to have degrees of membership, ranging from 0 to 1.</a:t>
            </a:r>
          </a:p>
          <a:p>
            <a:pPr algn="l">
              <a:lnSpc>
                <a:spcPts val="5279"/>
              </a:lnSpc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It does not restrict themselves in set A or in set not-A.</a:t>
            </a:r>
          </a:p>
          <a:p>
            <a:pPr marL="0" lvl="0" indent="0" algn="l">
              <a:lnSpc>
                <a:spcPts val="5279"/>
              </a:lnSpc>
            </a:pPr>
            <a:endParaRPr lang="en-US" sz="3199" spc="12">
              <a:solidFill>
                <a:srgbClr val="365B6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238176" y="4141538"/>
            <a:ext cx="14181247" cy="262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170 cm → 0.4 tall</a:t>
            </a:r>
          </a:p>
          <a:p>
            <a:pPr algn="l">
              <a:lnSpc>
                <a:spcPts val="5279"/>
              </a:lnSpc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180 cm → 0.7 tall</a:t>
            </a:r>
          </a:p>
          <a:p>
            <a:pPr algn="l">
              <a:lnSpc>
                <a:spcPts val="5279"/>
              </a:lnSpc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190 cm → 0.9 tall</a:t>
            </a:r>
          </a:p>
          <a:p>
            <a:pPr marL="0" lvl="0" indent="0" algn="l">
              <a:lnSpc>
                <a:spcPts val="5279"/>
              </a:lnSpc>
            </a:pPr>
            <a:endParaRPr lang="en-US" sz="3199" spc="12">
              <a:solidFill>
                <a:srgbClr val="365B6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53376" y="6625658"/>
            <a:ext cx="10876508" cy="129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This means a person can partially belong to the “tall” category.</a:t>
            </a:r>
          </a:p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53376" y="7776278"/>
            <a:ext cx="14015474" cy="129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  <a:spcBef>
                <a:spcPct val="0"/>
              </a:spcBef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Fuzzy sets are defined using something called a membership function, which shows how each input maps to a value between 0 and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226" y="2953814"/>
            <a:ext cx="8655939" cy="4867237"/>
          </a:xfrm>
          <a:custGeom>
            <a:avLst/>
            <a:gdLst/>
            <a:ahLst/>
            <a:cxnLst/>
            <a:rect l="l" t="t" r="r" b="b"/>
            <a:pathLst>
              <a:path w="8655939" h="4867237">
                <a:moveTo>
                  <a:pt x="0" y="0"/>
                </a:moveTo>
                <a:lnTo>
                  <a:pt x="8655939" y="0"/>
                </a:lnTo>
                <a:lnTo>
                  <a:pt x="8655939" y="4867237"/>
                </a:lnTo>
                <a:lnTo>
                  <a:pt x="0" y="4867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2953814"/>
            <a:ext cx="8761027" cy="4867237"/>
          </a:xfrm>
          <a:custGeom>
            <a:avLst/>
            <a:gdLst/>
            <a:ahLst/>
            <a:cxnLst/>
            <a:rect l="l" t="t" r="r" b="b"/>
            <a:pathLst>
              <a:path w="8761027" h="4867237">
                <a:moveTo>
                  <a:pt x="0" y="0"/>
                </a:moveTo>
                <a:lnTo>
                  <a:pt x="8761027" y="0"/>
                </a:lnTo>
                <a:lnTo>
                  <a:pt x="8761027" y="4867237"/>
                </a:lnTo>
                <a:lnTo>
                  <a:pt x="0" y="4867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42429" y="2810939"/>
            <a:ext cx="3179533" cy="129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527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1176054"/>
            <a:ext cx="15430500" cy="136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59"/>
              </a:lnSpc>
              <a:spcBef>
                <a:spcPct val="0"/>
              </a:spcBef>
            </a:pPr>
            <a:r>
              <a:rPr lang="en-US" sz="7899" b="1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Fuzzy logic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53376" y="3509943"/>
            <a:ext cx="14181247" cy="1960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Fuzzy logic is a superset of conventional (Boolean) logic that has been extended to handle the concept of partial truth—truth values between</a:t>
            </a:r>
          </a:p>
          <a:p>
            <a:pPr marL="0" lvl="0" indent="0" algn="l">
              <a:lnSpc>
                <a:spcPts val="5279"/>
              </a:lnSpc>
            </a:pPr>
            <a:endParaRPr lang="en-US" sz="3199" spc="12">
              <a:solidFill>
                <a:srgbClr val="365B6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251264" y="5470188"/>
            <a:ext cx="3685344" cy="2130659"/>
            <a:chOff x="0" y="0"/>
            <a:chExt cx="786820" cy="45488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86820" cy="454881"/>
            </a:xfrm>
            <a:custGeom>
              <a:avLst/>
              <a:gdLst/>
              <a:ahLst/>
              <a:cxnLst/>
              <a:rect l="l" t="t" r="r" b="b"/>
              <a:pathLst>
                <a:path w="786820" h="454881">
                  <a:moveTo>
                    <a:pt x="786820" y="107137"/>
                  </a:moveTo>
                  <a:lnTo>
                    <a:pt x="786820" y="347744"/>
                  </a:lnTo>
                  <a:cubicBezTo>
                    <a:pt x="786820" y="406914"/>
                    <a:pt x="738853" y="454881"/>
                    <a:pt x="679683" y="454881"/>
                  </a:cubicBezTo>
                  <a:lnTo>
                    <a:pt x="107137" y="454881"/>
                  </a:lnTo>
                  <a:cubicBezTo>
                    <a:pt x="47967" y="454881"/>
                    <a:pt x="0" y="406914"/>
                    <a:pt x="0" y="347744"/>
                  </a:cubicBezTo>
                  <a:lnTo>
                    <a:pt x="0" y="107137"/>
                  </a:lnTo>
                  <a:cubicBezTo>
                    <a:pt x="0" y="47967"/>
                    <a:pt x="47967" y="0"/>
                    <a:pt x="107137" y="0"/>
                  </a:cubicBezTo>
                  <a:lnTo>
                    <a:pt x="679683" y="0"/>
                  </a:lnTo>
                  <a:cubicBezTo>
                    <a:pt x="738853" y="0"/>
                    <a:pt x="786820" y="47967"/>
                    <a:pt x="786820" y="107137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786820" cy="521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Completely true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002874" y="5470188"/>
            <a:ext cx="3685344" cy="2130659"/>
            <a:chOff x="0" y="0"/>
            <a:chExt cx="786820" cy="4548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86820" cy="454881"/>
            </a:xfrm>
            <a:custGeom>
              <a:avLst/>
              <a:gdLst/>
              <a:ahLst/>
              <a:cxnLst/>
              <a:rect l="l" t="t" r="r" b="b"/>
              <a:pathLst>
                <a:path w="786820" h="454881">
                  <a:moveTo>
                    <a:pt x="786820" y="107137"/>
                  </a:moveTo>
                  <a:lnTo>
                    <a:pt x="786820" y="347744"/>
                  </a:lnTo>
                  <a:cubicBezTo>
                    <a:pt x="786820" y="406914"/>
                    <a:pt x="738853" y="454881"/>
                    <a:pt x="679683" y="454881"/>
                  </a:cubicBezTo>
                  <a:lnTo>
                    <a:pt x="107137" y="454881"/>
                  </a:lnTo>
                  <a:cubicBezTo>
                    <a:pt x="47967" y="454881"/>
                    <a:pt x="0" y="406914"/>
                    <a:pt x="0" y="347744"/>
                  </a:cubicBezTo>
                  <a:lnTo>
                    <a:pt x="0" y="107137"/>
                  </a:lnTo>
                  <a:cubicBezTo>
                    <a:pt x="0" y="47967"/>
                    <a:pt x="47967" y="0"/>
                    <a:pt x="107137" y="0"/>
                  </a:cubicBezTo>
                  <a:lnTo>
                    <a:pt x="679683" y="0"/>
                  </a:lnTo>
                  <a:cubicBezTo>
                    <a:pt x="738853" y="0"/>
                    <a:pt x="786820" y="47967"/>
                    <a:pt x="786820" y="107137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786820" cy="521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Completely true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6091869" y="6511705"/>
            <a:ext cx="475860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1176054"/>
            <a:ext cx="15430500" cy="136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59"/>
              </a:lnSpc>
              <a:spcBef>
                <a:spcPct val="0"/>
              </a:spcBef>
            </a:pPr>
            <a:r>
              <a:rPr lang="en-US" sz="7899" b="1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Membership function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4350" y="3102093"/>
            <a:ext cx="17259300" cy="329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  <a:spcBef>
                <a:spcPct val="0"/>
              </a:spcBef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It can be any function ranging from a simple linear straight line to a complicated spline function or a polynomial of a higher degree. Some characteristics of the membership functions are: </a:t>
            </a:r>
          </a:p>
          <a:p>
            <a:pPr algn="l">
              <a:lnSpc>
                <a:spcPts val="5279"/>
              </a:lnSpc>
              <a:spcBef>
                <a:spcPct val="0"/>
              </a:spcBef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</a:p>
          <a:p>
            <a:pPr algn="l">
              <a:lnSpc>
                <a:spcPts val="5279"/>
              </a:lnSpc>
              <a:spcBef>
                <a:spcPct val="0"/>
              </a:spcBef>
            </a:pPr>
            <a:endParaRPr lang="en-US" sz="3199" spc="12">
              <a:solidFill>
                <a:srgbClr val="365B6D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5279"/>
              </a:lnSpc>
              <a:spcBef>
                <a:spcPct val="0"/>
              </a:spcBef>
            </a:pPr>
            <a:endParaRPr lang="en-US" sz="3199" spc="12">
              <a:solidFill>
                <a:srgbClr val="365B6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57227" y="6678286"/>
            <a:ext cx="1813694" cy="129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0.0 = false</a:t>
            </a:r>
          </a:p>
          <a:p>
            <a:pPr algn="l">
              <a:lnSpc>
                <a:spcPts val="5279"/>
              </a:lnSpc>
              <a:spcBef>
                <a:spcPct val="0"/>
              </a:spcBef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1.0 = true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57227" y="4344154"/>
            <a:ext cx="7336557" cy="396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5279"/>
              </a:lnSpc>
              <a:spcBef>
                <a:spcPct val="0"/>
              </a:spcBef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• It is represented by the Greek symbol “µ” </a:t>
            </a:r>
          </a:p>
          <a:p>
            <a:pPr algn="l">
              <a:lnSpc>
                <a:spcPts val="5279"/>
              </a:lnSpc>
              <a:spcBef>
                <a:spcPct val="0"/>
              </a:spcBef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• Truth values range between 0.0 and 1.0</a:t>
            </a:r>
          </a:p>
          <a:p>
            <a:pPr algn="l">
              <a:lnSpc>
                <a:spcPts val="5279"/>
              </a:lnSpc>
              <a:spcBef>
                <a:spcPct val="0"/>
              </a:spcBef>
            </a:pPr>
            <a:r>
              <a:rPr lang="en-US" sz="3199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</a:p>
          <a:p>
            <a:pPr algn="l">
              <a:lnSpc>
                <a:spcPts val="5279"/>
              </a:lnSpc>
              <a:spcBef>
                <a:spcPct val="0"/>
              </a:spcBef>
            </a:pPr>
            <a:endParaRPr lang="en-US" sz="3199" spc="12">
              <a:solidFill>
                <a:srgbClr val="365B6D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5279"/>
              </a:lnSpc>
              <a:spcBef>
                <a:spcPct val="0"/>
              </a:spcBef>
            </a:pPr>
            <a:endParaRPr lang="en-US" sz="3199" spc="12">
              <a:solidFill>
                <a:srgbClr val="365B6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8549" y="3065192"/>
            <a:ext cx="4156615" cy="4156615"/>
          </a:xfrm>
          <a:custGeom>
            <a:avLst/>
            <a:gdLst/>
            <a:ahLst/>
            <a:cxnLst/>
            <a:rect l="l" t="t" r="r" b="b"/>
            <a:pathLst>
              <a:path w="4156615" h="4156615">
                <a:moveTo>
                  <a:pt x="0" y="0"/>
                </a:moveTo>
                <a:lnTo>
                  <a:pt x="4156615" y="0"/>
                </a:lnTo>
                <a:lnTo>
                  <a:pt x="4156615" y="4156616"/>
                </a:lnTo>
                <a:lnTo>
                  <a:pt x="0" y="415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88565" y="3065192"/>
            <a:ext cx="5542154" cy="4156615"/>
          </a:xfrm>
          <a:custGeom>
            <a:avLst/>
            <a:gdLst/>
            <a:ahLst/>
            <a:cxnLst/>
            <a:rect l="l" t="t" r="r" b="b"/>
            <a:pathLst>
              <a:path w="5542154" h="4156615">
                <a:moveTo>
                  <a:pt x="0" y="0"/>
                </a:moveTo>
                <a:lnTo>
                  <a:pt x="5542154" y="0"/>
                </a:lnTo>
                <a:lnTo>
                  <a:pt x="5542154" y="4156616"/>
                </a:lnTo>
                <a:lnTo>
                  <a:pt x="0" y="4156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625892" y="3276164"/>
            <a:ext cx="5928052" cy="3734673"/>
          </a:xfrm>
          <a:custGeom>
            <a:avLst/>
            <a:gdLst/>
            <a:ahLst/>
            <a:cxnLst/>
            <a:rect l="l" t="t" r="r" b="b"/>
            <a:pathLst>
              <a:path w="5928052" h="3734673">
                <a:moveTo>
                  <a:pt x="0" y="0"/>
                </a:moveTo>
                <a:lnTo>
                  <a:pt x="5928052" y="0"/>
                </a:lnTo>
                <a:lnTo>
                  <a:pt x="5928052" y="3734672"/>
                </a:lnTo>
                <a:lnTo>
                  <a:pt x="0" y="3734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28750" y="987990"/>
            <a:ext cx="15430500" cy="136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59"/>
              </a:lnSpc>
              <a:spcBef>
                <a:spcPct val="0"/>
              </a:spcBef>
            </a:pPr>
            <a:r>
              <a:rPr lang="en-US" sz="7899" b="1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Real-life application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1266825"/>
            <a:ext cx="15430500" cy="136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59"/>
              </a:lnSpc>
              <a:spcBef>
                <a:spcPct val="0"/>
              </a:spcBef>
            </a:pPr>
            <a:r>
              <a:rPr lang="en-US" sz="7899" b="1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28750" y="3300044"/>
            <a:ext cx="14181247" cy="4101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5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spc="15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Classical sets use strict yes-or-no membership.</a:t>
            </a:r>
          </a:p>
          <a:p>
            <a:pPr marL="842005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spc="15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Fuzzy sets allow partial membership.</a:t>
            </a:r>
          </a:p>
          <a:p>
            <a:pPr marL="842005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spc="15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Membership functions define how inputs map to those degrees.</a:t>
            </a:r>
          </a:p>
          <a:p>
            <a:pPr marL="842005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spc="15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Fuzzy logic uses these ideas for reasoning.</a:t>
            </a:r>
          </a:p>
          <a:p>
            <a:pPr marL="0" lvl="0" indent="0" algn="l">
              <a:lnSpc>
                <a:spcPts val="5459"/>
              </a:lnSpc>
              <a:spcBef>
                <a:spcPct val="0"/>
              </a:spcBef>
            </a:pPr>
            <a:endParaRPr lang="en-US" sz="3899" spc="15">
              <a:solidFill>
                <a:srgbClr val="365B6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Macintosh PowerPoint</Application>
  <PresentationFormat>Custom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Barlow Bold</vt:lpstr>
      <vt:lpstr>Barlow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PKI &amp; SSO</dc:title>
  <cp:lastModifiedBy>Lkhagva-Ochir .M</cp:lastModifiedBy>
  <cp:revision>1</cp:revision>
  <dcterms:created xsi:type="dcterms:W3CDTF">2006-08-16T00:00:00Z</dcterms:created>
  <dcterms:modified xsi:type="dcterms:W3CDTF">2026-05-07T00:54:50Z</dcterms:modified>
  <dc:identifier>DAGzECihNmI</dc:identifier>
</cp:coreProperties>
</file>